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1A"/>
                </a:solidFill>
                <a:latin typeface="Arial"/>
              </a:rPr>
              <a:t>AI Tool Usage (Students, n=100)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F93-452E-A5F4-9D30504DDF89}"/>
              </c:ext>
            </c:extLst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93-452E-A5F4-9D30504DDF89}"/>
              </c:ext>
            </c:extLst>
          </c:dPt>
          <c:dPt>
            <c:idx val="2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F93-452E-A5F4-9D30504DDF89}"/>
              </c:ext>
            </c:extLst>
          </c:dPt>
          <c:dPt>
            <c:idx val="3"/>
            <c:invertIfNegative val="0"/>
            <c:bubble3D val="0"/>
            <c:spPr>
              <a:solidFill>
                <a:srgbClr val="5499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F93-452E-A5F4-9D30504DDF89}"/>
              </c:ext>
            </c:extLst>
          </c:dPt>
          <c:dPt>
            <c:idx val="4"/>
            <c:invertIfNegative val="0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F93-452E-A5F4-9D30504DDF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Grammarly</c:v>
                </c:pt>
                <c:pt idx="1">
                  <c:v>Gemini</c:v>
                </c:pt>
                <c:pt idx="2">
                  <c:v>ChatGPT</c:v>
                </c:pt>
                <c:pt idx="3">
                  <c:v>Copilot</c:v>
                </c:pt>
                <c:pt idx="4">
                  <c:v>Notion 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24</c:v>
                </c:pt>
                <c:pt idx="2">
                  <c:v>20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F93-452E-A5F4-9D30504DD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1A"/>
                </a:solidFill>
                <a:latin typeface="Arial"/>
              </a:rPr>
              <a:t>Impact on Grades (n=100)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99-4E55-9BDA-CBDB296AB26D}"/>
              </c:ext>
            </c:extLst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99-4E55-9BDA-CBDB296AB26D}"/>
              </c:ext>
            </c:extLst>
          </c:dPt>
          <c:dPt>
            <c:idx val="2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99-4E55-9BDA-CBDB296AB26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99-4E55-9BDA-CBDB296AB26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99-4E55-9BDA-CBDB296AB26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99-4E55-9BDA-CBDB296AB26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Improved</c:v>
                </c:pt>
                <c:pt idx="1">
                  <c:v>No Change</c:v>
                </c:pt>
                <c:pt idx="2">
                  <c:v>Slight Decline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34</c:v>
                </c:pt>
                <c:pt idx="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99-4E55-9BDA-CBDB296AB2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Impact by Education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School</c:v>
                </c:pt>
                <c:pt idx="1">
                  <c:v>College</c:v>
                </c:pt>
                <c:pt idx="2">
                  <c:v>University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5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06-40DC-BE39-6D1A88A4CC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Change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School</c:v>
                </c:pt>
                <c:pt idx="1">
                  <c:v>College</c:v>
                </c:pt>
                <c:pt idx="2">
                  <c:v>University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06-40DC-BE39-6D1A88A4CC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Slight Decline</c:v>
                </c:pt>
              </c:strCache>
            </c:strRef>
          </c:tx>
          <c:spPr>
            <a:solidFill>
              <a:srgbClr val="D354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School</c:v>
                </c:pt>
                <c:pt idx="1">
                  <c:v>College</c:v>
                </c:pt>
                <c:pt idx="2">
                  <c:v>University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</c:v>
                </c:pt>
                <c:pt idx="1">
                  <c:v>9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06-40DC-BE39-6D1A88A4CC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Satisfaction Level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6E-47EA-A9E1-2B8F394692D9}"/>
              </c:ext>
            </c:extLst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6E-47EA-A9E1-2B8F394692D9}"/>
              </c:ext>
            </c:extLst>
          </c:dPt>
          <c:dPt>
            <c:idx val="2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6E-47EA-A9E1-2B8F394692D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6E-47EA-A9E1-2B8F394692D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A6E-47EA-A9E1-2B8F394692D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A6E-47EA-A9E1-2B8F394692D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32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A6E-47EA-A9E1-2B8F39469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Purpose of AI Usage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72-48C6-9970-2BD84E0E1D51}"/>
              </c:ext>
            </c:extLst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72-48C6-9970-2BD84E0E1D51}"/>
              </c:ext>
            </c:extLst>
          </c:dPt>
          <c:dPt>
            <c:idx val="2"/>
            <c:invertIfNegative val="0"/>
            <c:bubble3D val="0"/>
            <c:spPr>
              <a:solidFill>
                <a:srgbClr val="148F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72-48C6-9970-2BD84E0E1D51}"/>
              </c:ext>
            </c:extLst>
          </c:dPt>
          <c:dPt>
            <c:idx val="3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C72-48C6-9970-2BD84E0E1D51}"/>
              </c:ext>
            </c:extLst>
          </c:dPt>
          <c:dPt>
            <c:idx val="4"/>
            <c:invertIfNegative val="0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C72-48C6-9970-2BD84E0E1D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Homework</c:v>
                </c:pt>
                <c:pt idx="1">
                  <c:v>Learning</c:v>
                </c:pt>
                <c:pt idx="2">
                  <c:v>Research</c:v>
                </c:pt>
                <c:pt idx="3">
                  <c:v>Coding</c:v>
                </c:pt>
                <c:pt idx="4">
                  <c:v>Writing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21</c:v>
                </c:pt>
                <c:pt idx="2">
                  <c:v>21</c:v>
                </c:pt>
                <c:pt idx="3">
                  <c:v>20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C72-48C6-9970-2BD84E0E1D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79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600" dirty="0">
                <a:solidFill>
                  <a:srgbClr val="AED6F1"/>
                </a:solidFill>
              </a:rPr>
              <a:t>DATA ANALYSIS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in Student Life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Pakistan 2026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09728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</a:rPr>
              <a:t>Research &amp; Analytics Division  |  April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DD3"/>
                </a:solidFill>
              </a:rPr>
              <a:t>Dataset: AI_Student_Life_Pakistan_2026.csv  |  n = 100 Students  |  5 Cities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828800" cy="822960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319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4074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Students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931920"/>
            <a:ext cx="1828800" cy="822960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9319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4074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AI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931920"/>
            <a:ext cx="1828800" cy="822960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9319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4074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Cities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931920"/>
            <a:ext cx="1828800" cy="822960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9319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3.06h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44074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Avg Daily 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</a:rPr>
              <a:t>Why This Study?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AI tools are reshaping education in Pakistan. This report analyses how 100 students across Multan, Lahore, Islamabad, Faisalabad, and Karachi use AI in their daily academic lives — exploring which tools they prefer, why they use them, and whether AI is actually improving grades.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468880"/>
            <a:ext cx="1965960" cy="2194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Adoption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Which AI tools dominate among Pakistani students?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2468880"/>
            <a:ext cx="1965960" cy="2194560"/>
          </a:xfrm>
          <a:prstGeom prst="rect">
            <a:avLst/>
          </a:prstGeom>
          <a:solidFill>
            <a:srgbClr val="2E86C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Academic Impact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474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Does AI usage improve, worsen, or leave grades unchanged?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468880"/>
            <a:ext cx="1965960" cy="2194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474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How do gender &amp; education shape AI tool choices?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468880"/>
            <a:ext cx="1965960" cy="2194560"/>
          </a:xfrm>
          <a:prstGeom prst="rect">
            <a:avLst/>
          </a:prstGeom>
          <a:solidFill>
            <a:srgbClr val="2E86C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Satisfaction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4747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Are students satisfied with current AI tools?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</a:rPr>
              <a:t>Dataset Profile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02336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Female: 52 | Male: 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/ College / University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/ 29 /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 (88%) | Teens (12%)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Major Pakistani Cities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 AI 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 hours/day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</a:rPr>
              <a:t>Analytical Approach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47472" cy="3474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49961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Data Ingestion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20640" y="16367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CSV parsed with Python / pandas; 11 variables verified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2121408"/>
            <a:ext cx="347472" cy="3474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15798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120640" y="21214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Descriptive Stats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20640" y="22951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Mean, SD, quartiles for Daily_Usage_Hours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2779776"/>
            <a:ext cx="347472" cy="3474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81635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20640" y="27797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Frequency Analysis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29535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Value counts for all categorical variables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3438144"/>
            <a:ext cx="347472" cy="3474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34747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20640" y="34381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Cross-Tabulation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20640" y="36118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Education × Impact; Tool × Satisfaction; Gender × Purpose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4096512"/>
            <a:ext cx="347472" cy="3474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413308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20640" y="40965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Insight Synthesis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20640" y="4270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Patterns extracted and mapped to actionable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INSIGHTS  —  AI Tool Adoption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7315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41732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Grammarly &amp; Gemini are co-leaders, each used by 24% of students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77840" y="2167128"/>
            <a:ext cx="73152" cy="457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216712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ChatGPT has the highest grade-improvement rate — 65% of its users improved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916936"/>
            <a:ext cx="73152" cy="4572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2916936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Notion AI has the smallest footprint (15%) but solid satisfaction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7840" y="3666744"/>
            <a:ext cx="73152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3666744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Despite equal adoption, tools differ greatly in academic outcomes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4434840"/>
            <a:ext cx="3337560" cy="502920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4480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💡  ChatGPT leads in academic impact despite ranking 3rd in usage share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INSIGHTS  —  Academic Impact &amp; Usage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182880" y="91440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480560" y="914400"/>
          <a:ext cx="4480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182880" y="4297680"/>
            <a:ext cx="8778240" cy="594360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8" name="Text 4"/>
          <p:cNvSpPr/>
          <p:nvPr/>
        </p:nvSpPr>
        <p:spPr>
          <a:xfrm>
            <a:off x="365760" y="437083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📊  39% of students improved grades with AI  |  School students show strongest improvement (45.6%)  |  College students most likely to see No Change (51.7%)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INSIGHTS  —  Satisfaction &amp; Purpose of Usage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182880" y="914400"/>
          <a:ext cx="3931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297680" y="914400"/>
          <a:ext cx="4663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182880" y="4069080"/>
            <a:ext cx="3931920" cy="80467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⚠️  68% report Low or Medium satisfaction — suggesting AI tools are under-performing against student expectations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297680" y="4069080"/>
            <a:ext cx="4663440" cy="80467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0" name="Text 6"/>
          <p:cNvSpPr/>
          <p:nvPr/>
        </p:nvSpPr>
        <p:spPr>
          <a:xfrm>
            <a:off x="4434840" y="4114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✅  Homework is the top use case (24%), but Learning &amp; Research are nearly equal — indicating diverse academic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C1"/>
                </a:solidFill>
              </a:rPr>
              <a:t>Summary of Key Findings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AI tools are embedded in Pakistani student life across all education levels.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39% of students improved grades — ChatGPT delivers the highest academic impact (65%).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520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School students benefit most; college students show signs of unstrategic AI usage.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16002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38% report low satisfaction — a significant engagement and utility gap exists.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0680" y="2560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Gender shapes AI purpose: females lean toward learning; males toward coding &amp; homework.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Multan &amp; Lahore dominate the sample; data from other cities remains underrepresented.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1143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57200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AI Literacy Programs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Introduce structured AI training at all education levels to foster strategic, purposeful usage.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57200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0789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Promote High-Impact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44475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Guide students toward tools with proven grade improvement data; ChatGPT excels in academic contexts.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114800" cy="1143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457200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4048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Address Satisfaction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7706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Provide onboarding workshops &amp; helpdesks to bridge the gap between student expectations and outcomes.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457200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4048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Monitor Usage Hours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7706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Implement usage guidelines; 3+ hours daily risks over-dependence and erosion of critical thinking.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0" cy="1143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57600"/>
            <a:ext cx="457200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7307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Gender-Inclusive Strategy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0965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Encourage female students in AI-assisted STEM; support male students in AI writing &amp; research tools.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F0F6F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457200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7307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Expand Research Coverage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0965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Conduct follow-up studies in underrepresented cities (Karachi, Faisalabad) for balanced policy making.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D6F1"/>
                </a:solidFill>
              </a:rPr>
              <a:t>AI in Student Life — Pakistan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DD3"/>
                </a:solidFill>
              </a:rPr>
              <a:t>Research &amp; Analytics Division  |  April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FBDD3"/>
                </a:solidFill>
              </a:rPr>
              <a:t>AI_Student_Life_Pakistan_2026  |  n = 100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1920240" cy="658368"/>
          </a:xfrm>
          <a:prstGeom prst="rect">
            <a:avLst/>
          </a:prstGeom>
          <a:solidFill>
            <a:srgbClr val="2E86C1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 Students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4114800"/>
            <a:ext cx="1920240" cy="658368"/>
          </a:xfrm>
          <a:prstGeom prst="rect">
            <a:avLst/>
          </a:prstGeom>
          <a:solidFill>
            <a:srgbClr val="2E86C1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AI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114800"/>
            <a:ext cx="1920240" cy="658368"/>
          </a:xfrm>
          <a:prstGeom prst="rect">
            <a:avLst/>
          </a:prstGeom>
          <a:solidFill>
            <a:srgbClr val="2E86C1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Cities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4114800"/>
            <a:ext cx="1920240" cy="658368"/>
          </a:xfrm>
          <a:prstGeom prst="rect">
            <a:avLst/>
          </a:prstGeom>
          <a:solidFill>
            <a:srgbClr val="2E86C1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39% Grade Improvement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Office PowerPoint</Application>
  <PresentationFormat>On-screen Show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Student Life — Pakistan 2026</dc:title>
  <dc:subject>PptxGenJS Presentation</dc:subject>
  <dc:creator>Research &amp; Analytics Division</dc:creator>
  <cp:lastModifiedBy>Dhruv Gupta</cp:lastModifiedBy>
  <cp:revision>1</cp:revision>
  <dcterms:created xsi:type="dcterms:W3CDTF">2026-04-10T07:25:33Z</dcterms:created>
  <dcterms:modified xsi:type="dcterms:W3CDTF">2026-04-10T07:35:37Z</dcterms:modified>
</cp:coreProperties>
</file>